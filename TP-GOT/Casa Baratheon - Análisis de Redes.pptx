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Cinzel"/>
      <p:regular r:id="rId9"/>
      <p:bold r:id="rId10"/>
    </p:embeddedFont>
    <p:embeddedFont>
      <p:font typeface="Cinzel Black" pitchFamily="2" charset="77"/>
      <p:bold r:id="rId11"/>
    </p:embeddedFont>
    <p:embeddedFont>
      <p:font typeface="Montserrat" pitchFamily="2" charset="77"/>
      <p:regular r:id="rId12"/>
      <p:bold r:id="rId13"/>
      <p:italic r:id="rId14"/>
      <p:boldItalic r:id="rId15"/>
    </p:embeddedFont>
    <p:embeddedFont>
      <p:font typeface="Montserrat Light" panose="00000400000000000000" pitchFamily="2" charset="77"/>
      <p:regular r:id="rId16"/>
      <p:bold r:id="rId17"/>
      <p:italic r:id="rId18"/>
      <p:boldItalic r:id="rId19"/>
    </p:embeddedFont>
    <p:embeddedFont>
      <p:font typeface="Montserrat SemiBold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0" y="2190750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35592" y="3667125"/>
            <a:ext cx="652081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3D078"/>
                </a:solidFill>
                <a:latin typeface="Cinzel"/>
                <a:ea typeface="Cinzel"/>
                <a:cs typeface="Cinzel"/>
                <a:sym typeface="Cinzel"/>
              </a:rPr>
              <a:t>CASA BARATHEON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605688" y="4438650"/>
            <a:ext cx="49806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8843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ANÁLISIS ESTRUCTURAL DE REDES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48300" y="2209800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89;p13">
            <a:extLst>
              <a:ext uri="{FF2B5EF4-FFF2-40B4-BE49-F238E27FC236}">
                <a16:creationId xmlns:a16="http://schemas.microsoft.com/office/drawing/2014/main" id="{08F7CA9D-47D5-CBA2-3017-8FC05CE2FE5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2259" t="22162" r="19808" b="23977"/>
          <a:stretch>
            <a:fillRect/>
          </a:stretch>
        </p:blipFill>
        <p:spPr>
          <a:xfrm>
            <a:off x="5736648" y="2460624"/>
            <a:ext cx="750454" cy="844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1200150"/>
            <a:ext cx="109156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638175" y="447675"/>
            <a:ext cx="573071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C158"/>
                </a:solidFill>
                <a:latin typeface="Cinzel Black"/>
                <a:ea typeface="Cinzel Black"/>
                <a:cs typeface="Cinzel Black"/>
                <a:sym typeface="Cinzel Black"/>
              </a:rPr>
              <a:t>01. CENTRALIDAD DE GRADO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38175" y="447675"/>
            <a:ext cx="10915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A733B"/>
                </a:solidFill>
                <a:latin typeface="Montserrat"/>
                <a:ea typeface="Montserrat"/>
                <a:cs typeface="Montserrat"/>
                <a:sym typeface="Montserrat"/>
              </a:rPr>
              <a:t>CASA BARATHEON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38175" y="952500"/>
            <a:ext cx="10915650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638175" y="447675"/>
            <a:ext cx="6920865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C158"/>
                </a:solidFill>
                <a:latin typeface="Cinzel Black"/>
                <a:ea typeface="Cinzel Black"/>
                <a:cs typeface="Cinzel Black"/>
                <a:sym typeface="Cinzel Black"/>
              </a:rPr>
              <a:t>02. DENDROGRAMA DE CLÚSTERES</a:t>
            </a:r>
            <a:endParaRPr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1125" y="1485900"/>
            <a:ext cx="10369748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" y="447675"/>
            <a:ext cx="10915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A733B"/>
                </a:solidFill>
                <a:latin typeface="Montserrat"/>
                <a:ea typeface="Montserrat"/>
                <a:cs typeface="Montserrat"/>
                <a:sym typeface="Montserrat"/>
              </a:rPr>
              <a:t>DISTANCIA ESTRUCTURAL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638175" y="952500"/>
            <a:ext cx="10915650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638175" y="447675"/>
            <a:ext cx="80010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C158"/>
                </a:solidFill>
                <a:latin typeface="Cinzel Black"/>
                <a:ea typeface="Cinzel Black"/>
                <a:cs typeface="Cinzel Black"/>
                <a:sym typeface="Cinzel Black"/>
              </a:rPr>
              <a:t>03. MATRIZ DE ADYACENCIA Y MÉTRICAS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600325" y="1205083"/>
            <a:ext cx="1371600" cy="1615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ctr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>
                <a:ln/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GRADO (DEGREE)</a:t>
            </a:r>
            <a:endParaRPr b="1">
              <a:ln/>
              <a:solidFill>
                <a:schemeClr val="accent3"/>
              </a:solidFill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610100" y="1205083"/>
            <a:ext cx="27241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>
                <a:ln/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INTERMEDIACIÓN (BETWEENNESS)</a:t>
            </a:r>
            <a:endParaRPr b="1">
              <a:ln/>
              <a:solidFill>
                <a:schemeClr val="accent3"/>
              </a:solidFill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7972425" y="1205083"/>
            <a:ext cx="18764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>
                <a:ln/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CERCANÍA (CLOSENESS)</a:t>
            </a:r>
            <a:endParaRPr b="1">
              <a:ln/>
              <a:solidFill>
                <a:schemeClr val="accent3"/>
              </a:solidFill>
            </a:endParaRPr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1914525"/>
            <a:ext cx="1091565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43150" y="1219200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1219200"/>
            <a:ext cx="1428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0" y="1219200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638175" y="447675"/>
            <a:ext cx="10915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A733B"/>
                </a:solidFill>
                <a:latin typeface="Montserrat"/>
                <a:ea typeface="Montserrat"/>
                <a:cs typeface="Montserrat"/>
                <a:sym typeface="Montserrat"/>
              </a:rPr>
              <a:t>COMPORTAMIENTO DE RED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638175" y="952500"/>
            <a:ext cx="10915650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2662237"/>
            <a:ext cx="488632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2890837"/>
            <a:ext cx="4886325" cy="176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638175" y="447675"/>
            <a:ext cx="6830853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C158"/>
                </a:solidFill>
                <a:latin typeface="Cinzel Black"/>
                <a:ea typeface="Cinzel Black"/>
                <a:cs typeface="Cinzel Black"/>
                <a:sym typeface="Cinzel Black"/>
              </a:rPr>
              <a:t>04. DETECCIÓN DE COMUNIDADES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26068" y="3052762"/>
            <a:ext cx="431053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5C158"/>
                </a:solidFill>
                <a:latin typeface="Cinzel"/>
                <a:ea typeface="Cinzel"/>
                <a:cs typeface="Cinzel"/>
                <a:sym typeface="Cinzel"/>
              </a:rPr>
              <a:t>GRUPO 1: HISTÓRICO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1028700" y="3443287"/>
            <a:ext cx="4105275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919787" y="3371850"/>
            <a:ext cx="3524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NEXO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0" y="3600450"/>
            <a:ext cx="762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6038850" y="3714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0" y="3924300"/>
            <a:ext cx="762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886450" y="4038600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ÚNICO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55393" y="3281362"/>
            <a:ext cx="431053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3D078"/>
                </a:solidFill>
                <a:latin typeface="Cinzel"/>
                <a:ea typeface="Cinzel"/>
                <a:cs typeface="Cinzel"/>
                <a:sym typeface="Cinzel"/>
              </a:rPr>
              <a:t>GRUPO 2: LÍNEA REAL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058025" y="3671887"/>
            <a:ext cx="4105275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4487" y="3071812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9200" y="3690937"/>
            <a:ext cx="86201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5512" y="3690937"/>
            <a:ext cx="909637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19450" y="3690937"/>
            <a:ext cx="871537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205287" y="3690937"/>
            <a:ext cx="738187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09850" y="4148137"/>
            <a:ext cx="9429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562850" y="3300412"/>
            <a:ext cx="2571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60418" y="3919537"/>
            <a:ext cx="8286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03393" y="3919537"/>
            <a:ext cx="823912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041606" y="3919537"/>
            <a:ext cx="9715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127456" y="3919537"/>
            <a:ext cx="9334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38175" y="447675"/>
            <a:ext cx="10915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A733B"/>
                </a:solidFill>
                <a:latin typeface="Montserrat"/>
                <a:ea typeface="Montserrat"/>
                <a:cs typeface="Montserrat"/>
                <a:sym typeface="Montserrat"/>
              </a:rPr>
              <a:t>MODULARIDAD ~0.28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38175" y="952500"/>
            <a:ext cx="10915650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A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38175" y="447675"/>
            <a:ext cx="485060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5C158"/>
                </a:solidFill>
                <a:latin typeface="Cinzel Black"/>
                <a:ea typeface="Cinzel Black"/>
                <a:cs typeface="Cinzel Black"/>
                <a:sym typeface="Cinzel Black"/>
              </a:rPr>
              <a:t>05. RED SOCIAL GLOBAL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" y="1485900"/>
            <a:ext cx="109156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1619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11858625" y="161925"/>
            <a:ext cx="171450" cy="171450"/>
          </a:xfrm>
          <a:prstGeom prst="rect">
            <a:avLst/>
          </a:prstGeom>
          <a:noFill/>
          <a:ln w="9525" cap="flat" cmpd="sng">
            <a:solidFill>
              <a:srgbClr val="A884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38175" y="447675"/>
            <a:ext cx="109156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8A733B"/>
                </a:solidFill>
                <a:latin typeface="Montserrat"/>
                <a:ea typeface="Montserrat"/>
                <a:cs typeface="Montserrat"/>
                <a:sym typeface="Montserrat"/>
              </a:rPr>
              <a:t>VÍNCULOS DINÁSTICOS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638175" y="952500"/>
            <a:ext cx="10915650" cy="9525"/>
          </a:xfrm>
          <a:prstGeom prst="rect">
            <a:avLst/>
          </a:prstGeom>
          <a:solidFill>
            <a:srgbClr val="A884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Marco Antonio Jimenez Gavilanez</cp:lastModifiedBy>
  <cp:revision>1</cp:revision>
  <dcterms:modified xsi:type="dcterms:W3CDTF">2026-05-29T13:50:19Z</dcterms:modified>
</cp:coreProperties>
</file>